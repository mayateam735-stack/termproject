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A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16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Virtual Health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ABBAFB"/>
                </a:solidFill>
                <a:latin typeface="Segoe UI"/>
              </a:rPr>
              <a:t>Midterm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EB9CC"/>
                </a:solidFill>
                <a:latin typeface="Segoe UI"/>
              </a:rPr>
              <a:t>CSIS 4495 – 071  ·  Team MAYA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EB9CC"/>
                </a:solidFill>
                <a:latin typeface="Segoe UI"/>
              </a:rPr>
              <a:t>Amish Nanda  ·  Lovepreet Singh  ·  Shinsuke Tomita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3108960" cy="82296"/>
          </a:xfrm>
          <a:prstGeom prst="round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7028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Symptom Checker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3744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9251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ER Decision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51476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Clinic Locator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43700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Medication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0416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35924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Health AI Chat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4160520"/>
            <a:ext cx="1673352" cy="1417320"/>
          </a:xfrm>
          <a:prstGeom prst="roundRect">
            <a:avLst>
              <a:gd name="adj" fmla="val 8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28148" y="4480559"/>
            <a:ext cx="402336" cy="402336"/>
          </a:xfrm>
          <a:prstGeom prst="ellipse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5029200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D3EC"/>
                </a:solidFill>
                <a:latin typeface="Segoe UI"/>
              </a:rPr>
              <a:t>Health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263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EB9CC"/>
                </a:solidFill>
                <a:latin typeface="Segoe U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</a:rPr>
              <a:t>Overall Project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9-week plan  ·  Weeks 0–6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Wk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ECFBF4"/>
          </a:solidFill>
          <a:ln w="12700">
            <a:solidFill>
              <a:srgbClr val="BFE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✓ Discovery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Scope &amp;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4684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4684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Wk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4684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ECFBF4"/>
          </a:solidFill>
          <a:ln w="12700">
            <a:solidFill>
              <a:srgbClr val="BFE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✓ UX &amp; Wireframes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Flows, mockups,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728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0728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Wk 2–4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0728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ECFBF4"/>
          </a:solidFill>
          <a:ln w="12700">
            <a:solidFill>
              <a:srgbClr val="BFE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8744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✓ Core Build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Checker, ER flow, profile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6772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Wk 5–6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6772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ECFBF4"/>
          </a:solidFill>
          <a:ln w="12700">
            <a:solidFill>
              <a:srgbClr val="BFE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4788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✓ Locator + Reminders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Clinics, wait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2816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2816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Segoe UI"/>
              </a:rPr>
              <a:t>Wk 7–8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0832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Advanced Module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AI summary, voice,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8860" y="1828800"/>
            <a:ext cx="1711452" cy="457200"/>
          </a:xfrm>
          <a:prstGeom prst="roundRect">
            <a:avLst>
              <a:gd name="adj" fmla="val 18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8860" y="1920240"/>
            <a:ext cx="17114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Segoe UI"/>
              </a:rPr>
              <a:t>Wk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8860" y="2395728"/>
            <a:ext cx="1711452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6876" y="2560320"/>
            <a:ext cx="14554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Test &amp; Launch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QA, portal, final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26280"/>
            <a:ext cx="11091672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526280"/>
            <a:ext cx="7431420" cy="365760"/>
          </a:xfrm>
          <a:prstGeom prst="roundRect">
            <a:avLst>
              <a:gd name="adj" fmla="val 50000"/>
            </a:avLst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~67% complete  (Weeks 0–6 of 9)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3544824" cy="960120"/>
          </a:xfrm>
          <a:prstGeom prst="roundRect">
            <a:avLst>
              <a:gd name="adj" fmla="val 10000"/>
            </a:avLst>
          </a:prstGeom>
          <a:solidFill>
            <a:srgbClr val="F2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87568"/>
            <a:ext cx="3544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B5CF6"/>
                </a:solidFill>
                <a:latin typeface="Segoe UI"/>
              </a:rPr>
              <a:t>Amish Nanda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Backend · FastAPI · PostgreSQL ·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2064" y="5532120"/>
            <a:ext cx="3544824" cy="960120"/>
          </a:xfrm>
          <a:prstGeom prst="roundRect">
            <a:avLst>
              <a:gd name="adj" fmla="val 10000"/>
            </a:avLst>
          </a:prstGeom>
          <a:solidFill>
            <a:srgbClr val="E7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2064" y="5687568"/>
            <a:ext cx="3544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9D76"/>
                </a:solidFill>
                <a:latin typeface="Segoe UI"/>
              </a:rPr>
              <a:t>Lovepreet Singh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Frontend · React PWA · UI/UX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5488" y="5532120"/>
            <a:ext cx="3544824" cy="96012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5488" y="5687568"/>
            <a:ext cx="35448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97316"/>
                </a:solidFill>
                <a:latin typeface="Segoe UI"/>
              </a:rPr>
              <a:t>Shinsuke Tomita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AI/Safety · Triage logic ·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</a:rPr>
              <a:t>System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Three-tier architecture — React PWA · FastAPI · PostgreSQL on Neon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471672" cy="4114800"/>
          </a:xfrm>
          <a:prstGeom prst="roundRect">
            <a:avLst>
              <a:gd name="adj" fmla="val 5000"/>
            </a:avLst>
          </a:prstGeom>
          <a:solidFill>
            <a:srgbClr val="ECFAF4"/>
          </a:solidFill>
          <a:ln w="19050">
            <a:solidFill>
              <a:srgbClr val="109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01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9D76"/>
                </a:solidFill>
                <a:latin typeface="Segoe UI"/>
              </a:rPr>
              <a:t>Tier 1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58568"/>
            <a:ext cx="301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Segoe UI"/>
              </a:rPr>
              <a:t>React PWA · Vite · localhost:5173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69748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Symptom checker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3191256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91256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Health AI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685032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2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Home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4178808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78808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Clinic locator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672584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Medication reminders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" y="516636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Auth /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1168" y="3337560"/>
            <a:ext cx="3108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8640" y="1600200"/>
            <a:ext cx="3471672" cy="4114800"/>
          </a:xfrm>
          <a:prstGeom prst="roundRect">
            <a:avLst>
              <a:gd name="adj" fmla="val 5000"/>
            </a:avLst>
          </a:prstGeom>
          <a:solidFill>
            <a:srgbClr val="F3EFFD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7240" y="1783080"/>
            <a:ext cx="301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8B5CF6"/>
                </a:solidFill>
                <a:latin typeface="Segoe UI"/>
              </a:rPr>
              <a:t>Tier 2 — API /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7240" y="2258568"/>
            <a:ext cx="301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Segoe UI"/>
              </a:rPr>
              <a:t>Python · FastAPI · localhost:8000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9808" y="269748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4400" y="269748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Auth router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9808" y="3191256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4400" y="3191256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Triage router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9808" y="3685032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4400" y="3685032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Chat router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9808" y="4178808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4400" y="4178808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Symptom-checks router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9808" y="4672584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4400" y="4672584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Clinics router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59808" y="516636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4400" y="516636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Reminders · Patients routers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6887" y="3337560"/>
            <a:ext cx="3108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4360" y="1600200"/>
            <a:ext cx="3471672" cy="4114800"/>
          </a:xfrm>
          <a:prstGeom prst="roundRect">
            <a:avLst>
              <a:gd name="adj" fmla="val 5000"/>
            </a:avLst>
          </a:prstGeom>
          <a:solidFill>
            <a:srgbClr val="FDF6E9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2960" y="1783080"/>
            <a:ext cx="301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97316"/>
                </a:solidFill>
                <a:latin typeface="Segoe UI"/>
              </a:rPr>
              <a:t>Tier 3 — Data +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2960" y="2258568"/>
            <a:ext cx="301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4748B"/>
                </a:solidFill>
                <a:latin typeface="Segoe UI"/>
              </a:rPr>
              <a:t>PostgreSQL (Neon) · SQLAlchemy · LLM stub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5528" y="269748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80120" y="269748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PostgreSQL on Neon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5528" y="3191256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80120" y="3191256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Server-side sessions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5528" y="3685032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80120" y="3685032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Rule-based safety floor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5528" y="4178808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80120" y="4178808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LLM stub (OpenBioLLM-8B)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5528" y="4672584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80120" y="4672584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RAG integration (planned)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5528" y="5166360"/>
            <a:ext cx="3069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0120" y="5166360"/>
            <a:ext cx="28315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0F172A"/>
                </a:solidFill>
                <a:latin typeface="Segoe UI"/>
              </a:rPr>
              <a:t>BC clinic seeder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943600"/>
            <a:ext cx="11183112" cy="548640"/>
          </a:xfrm>
          <a:prstGeom prst="roundRect">
            <a:avLst>
              <a:gd name="adj" fmla="val 18000"/>
            </a:avLst>
          </a:prstGeom>
          <a:solidFill>
            <a:srgbClr val="E7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9D76"/>
                </a:solidFill>
                <a:latin typeface="Segoe UI"/>
              </a:rPr>
              <a:t>🛡  Rule-based safety floor always overrides the LLM — the model can never downgrade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</a:rPr>
              <a:t>Current Implementation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Working MVP — all core features functional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F3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01368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8B5CF6"/>
                </a:solidFill>
                <a:latin typeface="Segoe UI"/>
              </a:rPr>
              <a:t>Auth &amp; Sessions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DB-stored server-side sessions + HTTP-only cookie; PBKDF2-HMAC-SHA256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hashed passwords. Signup / login / logout / me endpoints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600200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7668" y="1801368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09D76"/>
                </a:solidFill>
                <a:latin typeface="Segoe UI"/>
              </a:rPr>
              <a:t>Symptom Checker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POST /api/triage — rule engine scores tags + pain level + duration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into 4 care levels with ER safety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42616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F3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43784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8B5CF6"/>
                </a:solidFill>
                <a:latin typeface="Segoe UI"/>
              </a:rPr>
              <a:t>Health AI Chat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POST /api/chat — conversational guidance behind a floating button;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same safety floor (emergencies flagged in chat too).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2642616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7668" y="2843784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4F6DF5"/>
                </a:solidFill>
                <a:latin typeface="Segoe UI"/>
              </a:rPr>
              <a:t>Home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Greeting, quick-action tiles (incl. tap-to-call 8-1-1 / 911),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live Upcoming reminders &amp; Recent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85032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FD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86200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97316"/>
                </a:solidFill>
                <a:latin typeface="Segoe UI"/>
              </a:rPr>
              <a:t>Clinic Locator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GET /api/clinics with ?kind=&amp;lat=&amp;lng= geo-filter + distance sort.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BC sample clinics seeded via app.seed.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3685032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886200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F4444"/>
                </a:solidFill>
                <a:latin typeface="Segoe UI"/>
              </a:rPr>
              <a:t>Medication Reminders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CRUD + PATCH /{id}/taken. Per-patient and DB-persisted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including the 'taken today' state (PostgreSQL on Neon).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27448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28616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2C55E"/>
                </a:solidFill>
                <a:latin typeface="Segoe UI"/>
              </a:rPr>
              <a:t>Health History &amp; Profile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Every check stored per patient; GET /api/patients/me/history.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Editable profile via PATCH /api/patients/me + shareable summary.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727448"/>
            <a:ext cx="5408676" cy="914400"/>
          </a:xfrm>
          <a:prstGeom prst="roundRect">
            <a:avLst>
              <a:gd name="adj" fmla="val 7000"/>
            </a:avLst>
          </a:prstGeom>
          <a:solidFill>
            <a:srgbClr val="F3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7668" y="4928616"/>
            <a:ext cx="48966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8B5CF6"/>
                </a:solidFill>
                <a:latin typeface="Segoe UI"/>
              </a:rPr>
              <a:t>LLM Integration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OpenBioLLM-8B stubbed in llm.py — app runs without a model.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Rule engine acts as a permanent safety floor.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09D76"/>
                </a:solidFill>
                <a:latin typeface="Segoe UI"/>
              </a:rPr>
              <a:t>Interactive API docs at /docs  ·  Frontend at :5173  ·  Every record scoped to the signed-in patient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Segoe UI"/>
              </a:rPr>
              <a:t>Challenges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9CC"/>
                </a:solidFill>
                <a:latin typeface="Segoe UI"/>
              </a:rPr>
              <a:t>Known constraints and planned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303520" cy="1874519"/>
          </a:xfrm>
          <a:prstGeom prst="roundRect">
            <a:avLst>
              <a:gd name="adj" fmla="val 5000"/>
            </a:avLst>
          </a:prstGeom>
          <a:solidFill>
            <a:srgbClr val="1A244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993391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8B5CF6"/>
                </a:solidFill>
                <a:latin typeface="Segoe UI"/>
              </a:rPr>
              <a:t>LLM inference on student hardware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OpenBioLLM-8B at 8-bit needs ~8GB VRAM. Student laptops and free-tier cloud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(Vercel/Heroku) can't host it. Mitigation: the stub ships the app now; a GPU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instance (RunPod / local) is targeted for the advanced module.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303520" cy="1874519"/>
          </a:xfrm>
          <a:prstGeom prst="roundRect">
            <a:avLst>
              <a:gd name="adj" fmla="val 5000"/>
            </a:avLst>
          </a:prstGeom>
          <a:solidFill>
            <a:srgbClr val="1A2446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6248" y="1993391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EF4444"/>
                </a:solidFill>
                <a:latin typeface="Segoe UI"/>
              </a:rPr>
              <a:t>Safety-floor correctness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Triage must never miss a life-threatening keyword; pain-level &amp; duration scoring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now layer on top. Edge cases (ambiguous, multi-symptom) need exhaustive tests.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Mitigation: growing keyword list + integration tests on every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5303520" cy="1874519"/>
          </a:xfrm>
          <a:prstGeom prst="roundRect">
            <a:avLst>
              <a:gd name="adj" fmla="val 5000"/>
            </a:avLst>
          </a:prstGeom>
          <a:solidFill>
            <a:srgbClr val="1A2446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142232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Live clinic data &amp; wait times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BC's Health Connect Registry API needs institutional access unavailable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student projects; wait times are mocked from the seeder. Mitigation: static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seed data clearly labelled 'estimated'; live integration deferred.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303520" cy="1874519"/>
          </a:xfrm>
          <a:prstGeom prst="roundRect">
            <a:avLst>
              <a:gd name="adj" fmla="val 5000"/>
            </a:avLst>
          </a:prstGeom>
          <a:solidFill>
            <a:srgbClr val="1A2446"/>
          </a:solidFill>
          <a:ln w="19050">
            <a:solidFill>
              <a:srgbClr val="109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4142232"/>
            <a:ext cx="47548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9D76"/>
                </a:solidFill>
                <a:latin typeface="Segoe UI"/>
              </a:rPr>
              <a:t>Neon DB schema migrations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SQLAlchemy create_all only adds missing tables — never columns. Adding a model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field without ALTER TABLE causes UndefinedColumn / 500 errors. Mitigation: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ALTER TABLE or drop-and-recreate on schema changes (Alembic planned).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</a:rPr>
              <a:t>AI Usage in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Claude (Anthropic) used as a development assistant — all outputs reviewed and verified by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483864" cy="3108960"/>
          </a:xfrm>
          <a:prstGeom prst="roundRect">
            <a:avLst>
              <a:gd name="adj" fmla="val 6000"/>
            </a:avLst>
          </a:prstGeom>
          <a:solidFill>
            <a:srgbClr val="E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4767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9D76"/>
                </a:solidFill>
                <a:latin typeface="Segoe UI"/>
              </a:rPr>
              <a:t>Code scaffolding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9809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FastAPI router stubs &amp; SQLAlchemy models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React component structure &amp; API proxy config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Seed script for BC sample clinics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91640"/>
            <a:ext cx="3483864" cy="3108960"/>
          </a:xfrm>
          <a:prstGeom prst="roundRect">
            <a:avLst>
              <a:gd name="adj" fmla="val 6000"/>
            </a:avLst>
          </a:prstGeom>
          <a:solidFill>
            <a:srgbClr val="F3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194767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5CF6"/>
                </a:solidFill>
                <a:latin typeface="Segoe UI"/>
              </a:rPr>
              <a:t>Triage logic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606040"/>
            <a:ext cx="29809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Keyword taxonomy for ER escalation 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Safety-floor invariant — LLM can't downgrade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Pain-level &amp; duration scoring over the floor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Test cases for edge-case symptoms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483864" cy="3108960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94767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97316"/>
                </a:solidFill>
                <a:latin typeface="Segoe UI"/>
              </a:rPr>
              <a:t>Research &amp;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606040"/>
            <a:ext cx="29809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B.C. healthcare stats (400K unattached, 32-wk wait)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Literature: Gilbert et al. 2020, Wallace et al. 2022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•  APA citations verified against original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7F6F0"/>
          </a:solidFill>
          <a:ln w="15875">
            <a:solidFill>
              <a:srgbClr val="109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09D76"/>
                </a:solidFill>
                <a:latin typeface="Segoe UI"/>
              </a:rPr>
              <a:t>Human oversight policy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F172A"/>
                </a:solidFill>
                <a:latin typeface="Segoe UI"/>
              </a:rPr>
              <a:t>Every AI output was reviewed and revised by the team before inclusion; statistics and citations were verified against original sources. VHN itself applies human oversight to every AI-generated result — the app routes users to real clinicians and never acts autonomously.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9CC"/>
                </a:solidFill>
                <a:latin typeface="Segoe UI"/>
              </a:rPr>
              <a:t>Weeks 7–9: advanced module, doctor portal, QA, and final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" y="207568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69748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Wire OpenBioLLM-8B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llama-cpp-python + RAG over trusted medical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640" y="1783080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51248" y="207568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1248" y="269748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Doctor &amp; clinic portal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Patient roster, history hand-off, multi-sided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2920" y="1783080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5528" y="207568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5528" y="269748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Advanced features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Voice input · PDF export · AI symptom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39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404164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66344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BC Health Connect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Live clinic queues + Health Connect Registry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640" y="3749039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1248" y="404164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1248" y="466344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Safety &amp; QA review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Edge-case testing, privacy audit, security hardening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2920" y="3749039"/>
            <a:ext cx="3444240" cy="1691640"/>
          </a:xfrm>
          <a:prstGeom prst="roundRect">
            <a:avLst>
              <a:gd name="adj" fmla="val 6000"/>
            </a:avLst>
          </a:prstGeom>
          <a:solidFill>
            <a:srgbClr val="1A2446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5528" y="4041648"/>
            <a:ext cx="457200" cy="457200"/>
          </a:xfrm>
          <a:prstGeom prst="ellipse">
            <a:avLst/>
          </a:prstGeom>
          <a:solidFill>
            <a:srgbClr val="109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5528" y="4663440"/>
            <a:ext cx="289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Final demo &amp; docs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EB9CC"/>
                </a:solidFill>
                <a:latin typeface="Segoe UI"/>
              </a:rPr>
              <a:t>Complete technical documentation and live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ABBAFB"/>
                </a:solidFill>
                <a:latin typeface="Segoe UI"/>
              </a:rPr>
              <a:t>VHN — guidance, not diagnosis. Every result routes to a real clinician.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